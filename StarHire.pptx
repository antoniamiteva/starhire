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Adlery Pro" charset="1" panose="00000000000000000000"/>
      <p:regular r:id="rId24"/>
    </p:embeddedFont>
    <p:embeddedFont>
      <p:font typeface="Lazydog" charset="1" panose="00000000000000000000"/>
      <p:regular r:id="rId25"/>
    </p:embeddedFont>
    <p:embeddedFont>
      <p:font typeface="Handyman" charset="1" panose="00000000000000000000"/>
      <p:regular r:id="rId26"/>
    </p:embeddedFont>
    <p:embeddedFont>
      <p:font typeface="Intro" charset="1" panose="02000000000000000000"/>
      <p:regular r:id="rId27"/>
    </p:embeddedFont>
    <p:embeddedFont>
      <p:font typeface="Adigiana Toybox Bold" charset="1" panose="020005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19.png" Type="http://schemas.openxmlformats.org/officeDocument/2006/relationships/image"/><Relationship Id="rId13" Target="../media/image20.svg" Type="http://schemas.openxmlformats.org/officeDocument/2006/relationships/image"/><Relationship Id="rId14" Target="../media/image21.png" Type="http://schemas.openxmlformats.org/officeDocument/2006/relationships/image"/><Relationship Id="rId15" Target="../media/image22.png" Type="http://schemas.openxmlformats.org/officeDocument/2006/relationships/image"/><Relationship Id="rId16" Target="../media/image23.png" Type="http://schemas.openxmlformats.org/officeDocument/2006/relationships/image"/><Relationship Id="rId17" Target="../media/image24.png" Type="http://schemas.openxmlformats.org/officeDocument/2006/relationships/image"/><Relationship Id="rId18" Target="../media/image25.png" Type="http://schemas.openxmlformats.org/officeDocument/2006/relationships/image"/><Relationship Id="rId19" Target="../media/image26.png" Type="http://schemas.openxmlformats.org/officeDocument/2006/relationships/image"/><Relationship Id="rId2" Target="../media/image1.png" Type="http://schemas.openxmlformats.org/officeDocument/2006/relationships/image"/><Relationship Id="rId20" Target="../media/image27.png" Type="http://schemas.openxmlformats.org/officeDocument/2006/relationships/image"/><Relationship Id="rId3" Target="../media/image11.png" Type="http://schemas.openxmlformats.org/officeDocument/2006/relationships/image"/><Relationship Id="rId4" Target="../media/image10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28.png" Type="http://schemas.openxmlformats.org/officeDocument/2006/relationships/image"/><Relationship Id="rId6" Target="../media/image29.svg" Type="http://schemas.openxmlformats.org/officeDocument/2006/relationships/image"/><Relationship Id="rId7" Target="../media/image3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7.png" Type="http://schemas.openxmlformats.org/officeDocument/2006/relationships/image"/><Relationship Id="rId11" Target="../media/image38.png" Type="http://schemas.openxmlformats.org/officeDocument/2006/relationships/image"/><Relationship Id="rId12" Target="../media/image39.png" Type="http://schemas.openxmlformats.org/officeDocument/2006/relationships/image"/><Relationship Id="rId13" Target="../media/image40.png" Type="http://schemas.openxmlformats.org/officeDocument/2006/relationships/image"/><Relationship Id="rId14" Target="../media/image41.svg" Type="http://schemas.openxmlformats.org/officeDocument/2006/relationships/image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33.png" Type="http://schemas.openxmlformats.org/officeDocument/2006/relationships/image"/><Relationship Id="rId7" Target="../media/image34.svg" Type="http://schemas.openxmlformats.org/officeDocument/2006/relationships/image"/><Relationship Id="rId8" Target="../media/image35.pn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44.png" Type="http://schemas.openxmlformats.org/officeDocument/2006/relationships/image"/><Relationship Id="rId8" Target="../media/image45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52.png" Type="http://schemas.openxmlformats.org/officeDocument/2006/relationships/image"/><Relationship Id="rId6" Target="../media/image5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5.png" Type="http://schemas.openxmlformats.org/officeDocument/2006/relationships/image"/><Relationship Id="rId11" Target="../media/image56.png" Type="http://schemas.openxmlformats.org/officeDocument/2006/relationships/image"/><Relationship Id="rId12" Target="../media/image57.sv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9.png" Type="http://schemas.openxmlformats.org/officeDocument/2006/relationships/image"/><Relationship Id="rId11" Target="../media/image60.pn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5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88870" y="276763"/>
            <a:ext cx="1279660" cy="1503874"/>
          </a:xfrm>
          <a:custGeom>
            <a:avLst/>
            <a:gdLst/>
            <a:ahLst/>
            <a:cxnLst/>
            <a:rect r="r" b="b" t="t" l="l"/>
            <a:pathLst>
              <a:path h="1503874" w="1279660">
                <a:moveTo>
                  <a:pt x="0" y="0"/>
                </a:moveTo>
                <a:lnTo>
                  <a:pt x="1279660" y="0"/>
                </a:lnTo>
                <a:lnTo>
                  <a:pt x="1279660" y="1503874"/>
                </a:lnTo>
                <a:lnTo>
                  <a:pt x="0" y="15038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03992" y="-1395493"/>
            <a:ext cx="2979787" cy="3176130"/>
          </a:xfrm>
          <a:custGeom>
            <a:avLst/>
            <a:gdLst/>
            <a:ahLst/>
            <a:cxnLst/>
            <a:rect r="r" b="b" t="t" l="l"/>
            <a:pathLst>
              <a:path h="3176130" w="2979787">
                <a:moveTo>
                  <a:pt x="0" y="0"/>
                </a:moveTo>
                <a:lnTo>
                  <a:pt x="2979787" y="0"/>
                </a:lnTo>
                <a:lnTo>
                  <a:pt x="2979787" y="3176130"/>
                </a:lnTo>
                <a:lnTo>
                  <a:pt x="0" y="31761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93885" y="3607178"/>
            <a:ext cx="1982142" cy="1146039"/>
          </a:xfrm>
          <a:custGeom>
            <a:avLst/>
            <a:gdLst/>
            <a:ahLst/>
            <a:cxnLst/>
            <a:rect r="r" b="b" t="t" l="l"/>
            <a:pathLst>
              <a:path h="1146039" w="1982142">
                <a:moveTo>
                  <a:pt x="0" y="0"/>
                </a:moveTo>
                <a:lnTo>
                  <a:pt x="1982143" y="0"/>
                </a:lnTo>
                <a:lnTo>
                  <a:pt x="1982143" y="1146038"/>
                </a:lnTo>
                <a:lnTo>
                  <a:pt x="0" y="114603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741849" y="5635821"/>
            <a:ext cx="12804302" cy="12804302"/>
          </a:xfrm>
          <a:custGeom>
            <a:avLst/>
            <a:gdLst/>
            <a:ahLst/>
            <a:cxnLst/>
            <a:rect r="r" b="b" t="t" l="l"/>
            <a:pathLst>
              <a:path h="12804302" w="12804302">
                <a:moveTo>
                  <a:pt x="0" y="0"/>
                </a:moveTo>
                <a:lnTo>
                  <a:pt x="12804302" y="0"/>
                </a:lnTo>
                <a:lnTo>
                  <a:pt x="12804302" y="12804302"/>
                </a:lnTo>
                <a:lnTo>
                  <a:pt x="0" y="1280430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43558" y="3347017"/>
            <a:ext cx="2615776" cy="2288804"/>
          </a:xfrm>
          <a:custGeom>
            <a:avLst/>
            <a:gdLst/>
            <a:ahLst/>
            <a:cxnLst/>
            <a:rect r="r" b="b" t="t" l="l"/>
            <a:pathLst>
              <a:path h="2288804" w="2615776">
                <a:moveTo>
                  <a:pt x="0" y="0"/>
                </a:moveTo>
                <a:lnTo>
                  <a:pt x="2615775" y="0"/>
                </a:lnTo>
                <a:lnTo>
                  <a:pt x="2615775" y="2288804"/>
                </a:lnTo>
                <a:lnTo>
                  <a:pt x="0" y="228880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570266" y="1936954"/>
            <a:ext cx="7912301" cy="2911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>
                <a:solidFill>
                  <a:srgbClr val="FFFFFF"/>
                </a:solidFill>
                <a:latin typeface="Adlery Pro"/>
                <a:ea typeface="Adlery Pro"/>
                <a:cs typeface="Adlery Pro"/>
                <a:sym typeface="Adlery Pro"/>
              </a:rPr>
              <a:t>Star Hire</a:t>
            </a:r>
          </a:p>
          <a:p>
            <a:pPr algn="ctr">
              <a:lnSpc>
                <a:spcPts val="21000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1982" y="5935858"/>
            <a:ext cx="10624036" cy="493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7"/>
              </a:lnSpc>
            </a:pPr>
            <a:r>
              <a:rPr lang="en-US" sz="3697" spc="-73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Изготвено от отбор “Дилърки”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40013">
            <a:off x="-1794760" y="-271186"/>
            <a:ext cx="21877520" cy="10829372"/>
          </a:xfrm>
          <a:custGeom>
            <a:avLst/>
            <a:gdLst/>
            <a:ahLst/>
            <a:cxnLst/>
            <a:rect r="r" b="b" t="t" l="l"/>
            <a:pathLst>
              <a:path h="10829372" w="21877520">
                <a:moveTo>
                  <a:pt x="0" y="0"/>
                </a:moveTo>
                <a:lnTo>
                  <a:pt x="21877520" y="0"/>
                </a:lnTo>
                <a:lnTo>
                  <a:pt x="21877520" y="10829372"/>
                </a:lnTo>
                <a:lnTo>
                  <a:pt x="0" y="10829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133407" y="1112848"/>
            <a:ext cx="12021187" cy="1908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ОТБОР “ДИЛЪРКИ”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529564">
            <a:off x="8233464" y="9046427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0" y="0"/>
                </a:lnTo>
                <a:lnTo>
                  <a:pt x="474490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4583763" y="7298321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844515">
            <a:off x="13216291" y="4887066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2643597" y="3385075"/>
            <a:ext cx="3615598" cy="3615583"/>
            <a:chOff x="0" y="0"/>
            <a:chExt cx="6350000" cy="634997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 l="0" t="-955" r="0" b="-955"/>
              </a:stretch>
            </a:blipFill>
          </p:spPr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7400005" y="3368566"/>
            <a:ext cx="3615598" cy="3615583"/>
            <a:chOff x="0" y="0"/>
            <a:chExt cx="6350000" cy="63499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6"/>
              <a:stretch>
                <a:fillRect l="0" t="-955" r="0" b="-955"/>
              </a:stretch>
            </a:blipFill>
          </p:spPr>
        </p:sp>
      </p:grpSp>
      <p:grpSp>
        <p:nvGrpSpPr>
          <p:cNvPr name="Group 17" id="17"/>
          <p:cNvGrpSpPr>
            <a:grpSpLocks noChangeAspect="true"/>
          </p:cNvGrpSpPr>
          <p:nvPr/>
        </p:nvGrpSpPr>
        <p:grpSpPr>
          <a:xfrm rot="0">
            <a:off x="12154877" y="3385075"/>
            <a:ext cx="3615598" cy="3615583"/>
            <a:chOff x="0" y="0"/>
            <a:chExt cx="6350000" cy="63499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7"/>
              <a:stretch>
                <a:fillRect l="0" t="-942" r="0" b="-942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2608392" y="3689889"/>
            <a:ext cx="2423798" cy="3009230"/>
          </a:xfrm>
          <a:custGeom>
            <a:avLst/>
            <a:gdLst/>
            <a:ahLst/>
            <a:cxnLst/>
            <a:rect r="r" b="b" t="t" l="l"/>
            <a:pathLst>
              <a:path h="3009230" w="2423798">
                <a:moveTo>
                  <a:pt x="0" y="0"/>
                </a:moveTo>
                <a:lnTo>
                  <a:pt x="2423798" y="0"/>
                </a:lnTo>
                <a:lnTo>
                  <a:pt x="2423798" y="3009229"/>
                </a:lnTo>
                <a:lnTo>
                  <a:pt x="0" y="300922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803971" y="3613394"/>
            <a:ext cx="2622035" cy="2991948"/>
          </a:xfrm>
          <a:custGeom>
            <a:avLst/>
            <a:gdLst/>
            <a:ahLst/>
            <a:cxnLst/>
            <a:rect r="r" b="b" t="t" l="l"/>
            <a:pathLst>
              <a:path h="2991948" w="2622035">
                <a:moveTo>
                  <a:pt x="0" y="0"/>
                </a:moveTo>
                <a:lnTo>
                  <a:pt x="2622034" y="0"/>
                </a:lnTo>
                <a:lnTo>
                  <a:pt x="2622034" y="2991949"/>
                </a:lnTo>
                <a:lnTo>
                  <a:pt x="0" y="299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3193881" y="3759627"/>
            <a:ext cx="2405899" cy="2993765"/>
          </a:xfrm>
          <a:custGeom>
            <a:avLst/>
            <a:gdLst/>
            <a:ahLst/>
            <a:cxnLst/>
            <a:rect r="r" b="b" t="t" l="l"/>
            <a:pathLst>
              <a:path h="2993765" w="2405899">
                <a:moveTo>
                  <a:pt x="0" y="0"/>
                </a:moveTo>
                <a:lnTo>
                  <a:pt x="2405899" y="0"/>
                </a:lnTo>
                <a:lnTo>
                  <a:pt x="2405899" y="2993765"/>
                </a:lnTo>
                <a:lnTo>
                  <a:pt x="0" y="29937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1811331">
            <a:off x="16114650" y="7322976"/>
            <a:ext cx="1503718" cy="2697253"/>
          </a:xfrm>
          <a:custGeom>
            <a:avLst/>
            <a:gdLst/>
            <a:ahLst/>
            <a:cxnLst/>
            <a:rect r="r" b="b" t="t" l="l"/>
            <a:pathLst>
              <a:path h="2697253" w="1503718">
                <a:moveTo>
                  <a:pt x="0" y="0"/>
                </a:moveTo>
                <a:lnTo>
                  <a:pt x="1503719" y="0"/>
                </a:lnTo>
                <a:lnTo>
                  <a:pt x="1503719" y="2697253"/>
                </a:lnTo>
                <a:lnTo>
                  <a:pt x="0" y="269725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-624099" y="8371826"/>
            <a:ext cx="2691469" cy="1974865"/>
          </a:xfrm>
          <a:custGeom>
            <a:avLst/>
            <a:gdLst/>
            <a:ahLst/>
            <a:cxnLst/>
            <a:rect r="r" b="b" t="t" l="l"/>
            <a:pathLst>
              <a:path h="1974865" w="2691469">
                <a:moveTo>
                  <a:pt x="0" y="0"/>
                </a:moveTo>
                <a:lnTo>
                  <a:pt x="2691468" y="0"/>
                </a:lnTo>
                <a:lnTo>
                  <a:pt x="2691468" y="1974865"/>
                </a:lnTo>
                <a:lnTo>
                  <a:pt x="0" y="19748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-818752">
            <a:off x="569191" y="582135"/>
            <a:ext cx="1471665" cy="1674726"/>
          </a:xfrm>
          <a:custGeom>
            <a:avLst/>
            <a:gdLst/>
            <a:ahLst/>
            <a:cxnLst/>
            <a:rect r="r" b="b" t="t" l="l"/>
            <a:pathLst>
              <a:path h="1674726" w="1471665">
                <a:moveTo>
                  <a:pt x="0" y="0"/>
                </a:moveTo>
                <a:lnTo>
                  <a:pt x="1471665" y="0"/>
                </a:lnTo>
                <a:lnTo>
                  <a:pt x="1471665" y="1674726"/>
                </a:lnTo>
                <a:lnTo>
                  <a:pt x="0" y="167472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4"/>
            <a:stretch>
              <a:fillRect l="-201985" t="-192267" r="-64785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846951">
            <a:off x="15265856" y="465931"/>
            <a:ext cx="2526167" cy="1225191"/>
          </a:xfrm>
          <a:custGeom>
            <a:avLst/>
            <a:gdLst/>
            <a:ahLst/>
            <a:cxnLst/>
            <a:rect r="r" b="b" t="t" l="l"/>
            <a:pathLst>
              <a:path h="1225191" w="2526167">
                <a:moveTo>
                  <a:pt x="0" y="0"/>
                </a:moveTo>
                <a:lnTo>
                  <a:pt x="2526167" y="0"/>
                </a:lnTo>
                <a:lnTo>
                  <a:pt x="2526167" y="1225192"/>
                </a:lnTo>
                <a:lnTo>
                  <a:pt x="0" y="122519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2186615">
            <a:off x="4028123" y="3919349"/>
            <a:ext cx="1151697" cy="1151697"/>
          </a:xfrm>
          <a:custGeom>
            <a:avLst/>
            <a:gdLst/>
            <a:ahLst/>
            <a:cxnLst/>
            <a:rect r="r" b="b" t="t" l="l"/>
            <a:pathLst>
              <a:path h="1151697" w="1151697">
                <a:moveTo>
                  <a:pt x="0" y="0"/>
                </a:moveTo>
                <a:lnTo>
                  <a:pt x="1151697" y="0"/>
                </a:lnTo>
                <a:lnTo>
                  <a:pt x="1151697" y="1151697"/>
                </a:lnTo>
                <a:lnTo>
                  <a:pt x="0" y="115169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49491" t="-24816" r="-205847" b="-75061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1239042">
            <a:off x="8846540" y="3779795"/>
            <a:ext cx="1153889" cy="1153889"/>
          </a:xfrm>
          <a:custGeom>
            <a:avLst/>
            <a:gdLst/>
            <a:ahLst/>
            <a:cxnLst/>
            <a:rect r="r" b="b" t="t" l="l"/>
            <a:pathLst>
              <a:path h="1153889" w="1153889">
                <a:moveTo>
                  <a:pt x="0" y="0"/>
                </a:moveTo>
                <a:lnTo>
                  <a:pt x="1153889" y="0"/>
                </a:lnTo>
                <a:lnTo>
                  <a:pt x="1153889" y="1153890"/>
                </a:lnTo>
                <a:lnTo>
                  <a:pt x="0" y="11538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175122" t="-24653" r="-112753" b="-93527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-1398327">
            <a:off x="12994951" y="2647028"/>
            <a:ext cx="2002637" cy="4450304"/>
          </a:xfrm>
          <a:custGeom>
            <a:avLst/>
            <a:gdLst/>
            <a:ahLst/>
            <a:cxnLst/>
            <a:rect r="r" b="b" t="t" l="l"/>
            <a:pathLst>
              <a:path h="4450304" w="2002637">
                <a:moveTo>
                  <a:pt x="0" y="0"/>
                </a:moveTo>
                <a:lnTo>
                  <a:pt x="2002636" y="0"/>
                </a:lnTo>
                <a:lnTo>
                  <a:pt x="2002636" y="4450303"/>
                </a:lnTo>
                <a:lnTo>
                  <a:pt x="0" y="445030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2319231" y="7277777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КАРИНА ПОПТРАЙКОВА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085425" y="7184893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КРИСТИНА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ИВАНОВа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54579" y="7184893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АНТОНИЯ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МИТЕВА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3857" y="390284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2"/>
                </a:lnTo>
                <a:lnTo>
                  <a:pt x="0" y="95064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938810" y="158962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905804" y="3906617"/>
            <a:ext cx="5724538" cy="5724538"/>
          </a:xfrm>
          <a:custGeom>
            <a:avLst/>
            <a:gdLst/>
            <a:ahLst/>
            <a:cxnLst/>
            <a:rect r="r" b="b" t="t" l="l"/>
            <a:pathLst>
              <a:path h="5724538" w="5724538">
                <a:moveTo>
                  <a:pt x="0" y="0"/>
                </a:moveTo>
                <a:lnTo>
                  <a:pt x="5724538" y="0"/>
                </a:lnTo>
                <a:lnTo>
                  <a:pt x="5724538" y="5724539"/>
                </a:lnTo>
                <a:lnTo>
                  <a:pt x="0" y="57245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456730" y="-774083"/>
            <a:ext cx="4010803" cy="2202295"/>
          </a:xfrm>
          <a:custGeom>
            <a:avLst/>
            <a:gdLst/>
            <a:ahLst/>
            <a:cxnLst/>
            <a:rect r="r" b="b" t="t" l="l"/>
            <a:pathLst>
              <a:path h="2202295" w="4010803">
                <a:moveTo>
                  <a:pt x="0" y="0"/>
                </a:moveTo>
                <a:lnTo>
                  <a:pt x="4010803" y="0"/>
                </a:lnTo>
                <a:lnTo>
                  <a:pt x="4010803" y="2202295"/>
                </a:lnTo>
                <a:lnTo>
                  <a:pt x="0" y="22022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613857" y="1615440"/>
            <a:ext cx="10292308" cy="4344459"/>
            <a:chOff x="0" y="0"/>
            <a:chExt cx="13723077" cy="5792612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3723077" cy="5792612"/>
              <a:chOff x="0" y="0"/>
              <a:chExt cx="3445435" cy="145434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3445435" cy="1454343"/>
              </a:xfrm>
              <a:custGeom>
                <a:avLst/>
                <a:gdLst/>
                <a:ahLst/>
                <a:cxnLst/>
                <a:rect r="r" b="b" t="t" l="l"/>
                <a:pathLst>
                  <a:path h="1454343" w="3445435">
                    <a:moveTo>
                      <a:pt x="18053" y="0"/>
                    </a:moveTo>
                    <a:lnTo>
                      <a:pt x="3427382" y="0"/>
                    </a:lnTo>
                    <a:cubicBezTo>
                      <a:pt x="3432170" y="0"/>
                      <a:pt x="3436762" y="1902"/>
                      <a:pt x="3440147" y="5288"/>
                    </a:cubicBezTo>
                    <a:cubicBezTo>
                      <a:pt x="3443533" y="8673"/>
                      <a:pt x="3445435" y="13265"/>
                      <a:pt x="3445435" y="18053"/>
                    </a:cubicBezTo>
                    <a:lnTo>
                      <a:pt x="3445435" y="1436291"/>
                    </a:lnTo>
                    <a:cubicBezTo>
                      <a:pt x="3445435" y="1441078"/>
                      <a:pt x="3443533" y="1445670"/>
                      <a:pt x="3440147" y="1449056"/>
                    </a:cubicBezTo>
                    <a:cubicBezTo>
                      <a:pt x="3436762" y="1452441"/>
                      <a:pt x="3432170" y="1454343"/>
                      <a:pt x="3427382" y="1454343"/>
                    </a:cubicBezTo>
                    <a:lnTo>
                      <a:pt x="18053" y="1454343"/>
                    </a:lnTo>
                    <a:cubicBezTo>
                      <a:pt x="13265" y="1454343"/>
                      <a:pt x="8673" y="1452441"/>
                      <a:pt x="5288" y="1449056"/>
                    </a:cubicBezTo>
                    <a:cubicBezTo>
                      <a:pt x="1902" y="1445670"/>
                      <a:pt x="0" y="1441078"/>
                      <a:pt x="0" y="1436291"/>
                    </a:cubicBezTo>
                    <a:lnTo>
                      <a:pt x="0" y="18053"/>
                    </a:lnTo>
                    <a:cubicBezTo>
                      <a:pt x="0" y="13265"/>
                      <a:pt x="1902" y="8673"/>
                      <a:pt x="5288" y="5288"/>
                    </a:cubicBezTo>
                    <a:cubicBezTo>
                      <a:pt x="8673" y="1902"/>
                      <a:pt x="13265" y="0"/>
                      <a:pt x="18053" y="0"/>
                    </a:cubicBezTo>
                    <a:close/>
                  </a:path>
                </a:pathLst>
              </a:custGeom>
              <a:solidFill>
                <a:srgbClr val="CA81C7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85725"/>
                <a:ext cx="3445435" cy="13686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0" y="176111"/>
              <a:ext cx="13723077" cy="53765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344"/>
                </a:lnSpc>
                <a:spcBef>
                  <a:spcPct val="0"/>
                </a:spcBef>
              </a:pPr>
              <a:r>
                <a:rPr lang="en-US" sz="4699" spc="281">
                  <a:solidFill>
                    <a:srgbClr val="FFFFFF"/>
                  </a:solidFill>
                  <a:latin typeface="Handyman"/>
                  <a:ea typeface="Handyman"/>
                  <a:cs typeface="Handyman"/>
                  <a:sym typeface="Handyman"/>
                </a:rPr>
                <a:t>„StarHire“ е уеб базирана платформа за междугалактическа борса за работа с ясно дефинирани роли на потребителите (извънземни, работодатели, администратори).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13857" y="6367901"/>
            <a:ext cx="10292308" cy="3461137"/>
            <a:chOff x="0" y="0"/>
            <a:chExt cx="13723077" cy="4614850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13723077" cy="4614850"/>
              <a:chOff x="0" y="0"/>
              <a:chExt cx="3445435" cy="1158644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3445435" cy="1158644"/>
              </a:xfrm>
              <a:custGeom>
                <a:avLst/>
                <a:gdLst/>
                <a:ahLst/>
                <a:cxnLst/>
                <a:rect r="r" b="b" t="t" l="l"/>
                <a:pathLst>
                  <a:path h="1158644" w="3445435">
                    <a:moveTo>
                      <a:pt x="18053" y="0"/>
                    </a:moveTo>
                    <a:lnTo>
                      <a:pt x="3427382" y="0"/>
                    </a:lnTo>
                    <a:cubicBezTo>
                      <a:pt x="3432170" y="0"/>
                      <a:pt x="3436762" y="1902"/>
                      <a:pt x="3440147" y="5288"/>
                    </a:cubicBezTo>
                    <a:cubicBezTo>
                      <a:pt x="3443533" y="8673"/>
                      <a:pt x="3445435" y="13265"/>
                      <a:pt x="3445435" y="18053"/>
                    </a:cubicBezTo>
                    <a:lnTo>
                      <a:pt x="3445435" y="1140591"/>
                    </a:lnTo>
                    <a:cubicBezTo>
                      <a:pt x="3445435" y="1145379"/>
                      <a:pt x="3443533" y="1149971"/>
                      <a:pt x="3440147" y="1153357"/>
                    </a:cubicBezTo>
                    <a:cubicBezTo>
                      <a:pt x="3436762" y="1156742"/>
                      <a:pt x="3432170" y="1158644"/>
                      <a:pt x="3427382" y="1158644"/>
                    </a:cubicBezTo>
                    <a:lnTo>
                      <a:pt x="18053" y="1158644"/>
                    </a:lnTo>
                    <a:cubicBezTo>
                      <a:pt x="13265" y="1158644"/>
                      <a:pt x="8673" y="1156742"/>
                      <a:pt x="5288" y="1153357"/>
                    </a:cubicBezTo>
                    <a:cubicBezTo>
                      <a:pt x="1902" y="1149971"/>
                      <a:pt x="0" y="1145379"/>
                      <a:pt x="0" y="1140591"/>
                    </a:cubicBezTo>
                    <a:lnTo>
                      <a:pt x="0" y="18053"/>
                    </a:lnTo>
                    <a:cubicBezTo>
                      <a:pt x="0" y="13265"/>
                      <a:pt x="1902" y="8673"/>
                      <a:pt x="5288" y="5288"/>
                    </a:cubicBezTo>
                    <a:cubicBezTo>
                      <a:pt x="8673" y="1902"/>
                      <a:pt x="13265" y="0"/>
                      <a:pt x="18053" y="0"/>
                    </a:cubicBezTo>
                    <a:close/>
                  </a:path>
                </a:pathLst>
              </a:custGeom>
              <a:solidFill>
                <a:srgbClr val="CA81C7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85725"/>
                <a:ext cx="3445435" cy="107291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0" y="18404"/>
              <a:ext cx="13723077" cy="4309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345"/>
                </a:lnSpc>
                <a:spcBef>
                  <a:spcPct val="0"/>
                </a:spcBef>
              </a:pPr>
              <a:r>
                <a:rPr lang="en-US" sz="4700" spc="282">
                  <a:solidFill>
                    <a:srgbClr val="FFFFFF"/>
                  </a:solidFill>
                  <a:latin typeface="Handyman"/>
                  <a:ea typeface="Handyman"/>
                  <a:cs typeface="Handyman"/>
                  <a:sym typeface="Handyman"/>
                </a:rPr>
                <a:t>Проектът използва трислойна архитектура и съвременни .NET технологии за сигурно и функционално приложение.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3037000" y="174664"/>
            <a:ext cx="1221400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99"/>
              </a:lnSpc>
            </a:pPr>
            <a:r>
              <a:rPr lang="en-US" sz="74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Същност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3293213" y="1962458"/>
            <a:ext cx="2949720" cy="2949720"/>
          </a:xfrm>
          <a:custGeom>
            <a:avLst/>
            <a:gdLst/>
            <a:ahLst/>
            <a:cxnLst/>
            <a:rect r="r" b="b" t="t" l="l"/>
            <a:pathLst>
              <a:path h="2949720" w="2949720">
                <a:moveTo>
                  <a:pt x="0" y="0"/>
                </a:moveTo>
                <a:lnTo>
                  <a:pt x="2949720" y="0"/>
                </a:lnTo>
                <a:lnTo>
                  <a:pt x="2949720" y="2949720"/>
                </a:lnTo>
                <a:lnTo>
                  <a:pt x="0" y="29497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826167" y="221512"/>
            <a:ext cx="9457358" cy="9832211"/>
          </a:xfrm>
          <a:custGeom>
            <a:avLst/>
            <a:gdLst/>
            <a:ahLst/>
            <a:cxnLst/>
            <a:rect r="r" b="b" t="t" l="l"/>
            <a:pathLst>
              <a:path h="9832211" w="9457358">
                <a:moveTo>
                  <a:pt x="0" y="0"/>
                </a:moveTo>
                <a:lnTo>
                  <a:pt x="9457358" y="0"/>
                </a:lnTo>
                <a:lnTo>
                  <a:pt x="9457358" y="9832211"/>
                </a:lnTo>
                <a:lnTo>
                  <a:pt x="0" y="9832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8965972" y="-147174"/>
            <a:ext cx="10036371" cy="10434174"/>
          </a:xfrm>
          <a:custGeom>
            <a:avLst/>
            <a:gdLst/>
            <a:ahLst/>
            <a:cxnLst/>
            <a:rect r="r" b="b" t="t" l="l"/>
            <a:pathLst>
              <a:path h="10434174" w="10036371">
                <a:moveTo>
                  <a:pt x="10036371" y="0"/>
                </a:moveTo>
                <a:lnTo>
                  <a:pt x="0" y="0"/>
                </a:lnTo>
                <a:lnTo>
                  <a:pt x="0" y="10434174"/>
                </a:lnTo>
                <a:lnTo>
                  <a:pt x="10036371" y="10434174"/>
                </a:lnTo>
                <a:lnTo>
                  <a:pt x="10036371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166622" y="651299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7"/>
                </a:lnTo>
                <a:lnTo>
                  <a:pt x="0" y="4237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1339" t="-79679" r="-24689" b="-8097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29564">
            <a:off x="8233464" y="9046427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0" y="0"/>
                </a:lnTo>
                <a:lnTo>
                  <a:pt x="474490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4583763" y="7298321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13216291" y="4887066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3"/>
            <a:stretch>
              <a:fillRect l="-201985" t="-192267" r="-64785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381961" y="2462192"/>
            <a:ext cx="7209621" cy="5138493"/>
          </a:xfrm>
          <a:custGeom>
            <a:avLst/>
            <a:gdLst/>
            <a:ahLst/>
            <a:cxnLst/>
            <a:rect r="r" b="b" t="t" l="l"/>
            <a:pathLst>
              <a:path h="5138493" w="7209621">
                <a:moveTo>
                  <a:pt x="0" y="0"/>
                </a:moveTo>
                <a:lnTo>
                  <a:pt x="7209621" y="0"/>
                </a:lnTo>
                <a:lnTo>
                  <a:pt x="7209621" y="5138494"/>
                </a:lnTo>
                <a:lnTo>
                  <a:pt x="0" y="51384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376175" y="3827801"/>
            <a:ext cx="7535650" cy="2718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02"/>
              </a:lnSpc>
            </a:pPr>
            <a:r>
              <a:rPr lang="en-US" sz="9300">
                <a:solidFill>
                  <a:srgbClr val="F1F9FD"/>
                </a:solidFill>
                <a:latin typeface="Lazydog"/>
                <a:ea typeface="Lazydog"/>
                <a:cs typeface="Lazydog"/>
                <a:sym typeface="Lazydog"/>
              </a:rPr>
              <a:t>ЦЕЛИ НА ПРОЕКТА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-311053" y="840205"/>
            <a:ext cx="5901366" cy="2651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999"/>
              </a:lnSpc>
            </a:pPr>
            <a:r>
              <a:rPr lang="en-US" sz="4999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Симулация на модерна система за подбор на кадри във фантастична среда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5067452" y="808128"/>
            <a:ext cx="2908078" cy="2908078"/>
            <a:chOff x="0" y="0"/>
            <a:chExt cx="3877438" cy="387743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902209" y="903504"/>
              <a:ext cx="2073020" cy="2070429"/>
            </a:xfrm>
            <a:custGeom>
              <a:avLst/>
              <a:gdLst/>
              <a:ahLst/>
              <a:cxnLst/>
              <a:rect r="r" b="b" t="t" l="l"/>
              <a:pathLst>
                <a:path h="2070429" w="2073020">
                  <a:moveTo>
                    <a:pt x="0" y="0"/>
                  </a:moveTo>
                  <a:lnTo>
                    <a:pt x="2073020" y="0"/>
                  </a:lnTo>
                  <a:lnTo>
                    <a:pt x="2073020" y="2070429"/>
                  </a:lnTo>
                  <a:lnTo>
                    <a:pt x="0" y="2070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119616" y="6813251"/>
            <a:ext cx="2908078" cy="2908078"/>
            <a:chOff x="0" y="0"/>
            <a:chExt cx="3877438" cy="387743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835431" y="832665"/>
              <a:ext cx="2206577" cy="2212107"/>
            </a:xfrm>
            <a:custGeom>
              <a:avLst/>
              <a:gdLst/>
              <a:ahLst/>
              <a:cxnLst/>
              <a:rect r="r" b="b" t="t" l="l"/>
              <a:pathLst>
                <a:path h="2212107" w="2206577">
                  <a:moveTo>
                    <a:pt x="0" y="0"/>
                  </a:moveTo>
                  <a:lnTo>
                    <a:pt x="2206576" y="0"/>
                  </a:lnTo>
                  <a:lnTo>
                    <a:pt x="2206576" y="2212107"/>
                  </a:lnTo>
                  <a:lnTo>
                    <a:pt x="0" y="2212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468090" y="6889451"/>
            <a:ext cx="2908078" cy="2908078"/>
            <a:chOff x="0" y="0"/>
            <a:chExt cx="3877438" cy="387743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835431" y="832665"/>
              <a:ext cx="2206577" cy="2212107"/>
            </a:xfrm>
            <a:custGeom>
              <a:avLst/>
              <a:gdLst/>
              <a:ahLst/>
              <a:cxnLst/>
              <a:rect r="r" b="b" t="t" l="l"/>
              <a:pathLst>
                <a:path h="2212107" w="2206577">
                  <a:moveTo>
                    <a:pt x="0" y="0"/>
                  </a:moveTo>
                  <a:lnTo>
                    <a:pt x="2206576" y="0"/>
                  </a:lnTo>
                  <a:lnTo>
                    <a:pt x="2206576" y="2212107"/>
                  </a:lnTo>
                  <a:lnTo>
                    <a:pt x="0" y="2212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0629894" y="810617"/>
            <a:ext cx="2908078" cy="2908078"/>
            <a:chOff x="0" y="0"/>
            <a:chExt cx="3877438" cy="387743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896589" y="893977"/>
              <a:ext cx="2084260" cy="2089484"/>
            </a:xfrm>
            <a:custGeom>
              <a:avLst/>
              <a:gdLst/>
              <a:ahLst/>
              <a:cxnLst/>
              <a:rect r="r" b="b" t="t" l="l"/>
              <a:pathLst>
                <a:path h="2089484" w="2084260">
                  <a:moveTo>
                    <a:pt x="0" y="0"/>
                  </a:moveTo>
                  <a:lnTo>
                    <a:pt x="2084260" y="0"/>
                  </a:lnTo>
                  <a:lnTo>
                    <a:pt x="2084260" y="2089484"/>
                  </a:lnTo>
                  <a:lnTo>
                    <a:pt x="0" y="20894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Freeform 26" id="26"/>
          <p:cNvSpPr/>
          <p:nvPr/>
        </p:nvSpPr>
        <p:spPr>
          <a:xfrm flipH="false" flipV="false" rot="0">
            <a:off x="7807155" y="1311656"/>
            <a:ext cx="2421684" cy="950511"/>
          </a:xfrm>
          <a:custGeom>
            <a:avLst/>
            <a:gdLst/>
            <a:ahLst/>
            <a:cxnLst/>
            <a:rect r="r" b="b" t="t" l="l"/>
            <a:pathLst>
              <a:path h="950511" w="2421684">
                <a:moveTo>
                  <a:pt x="0" y="0"/>
                </a:moveTo>
                <a:lnTo>
                  <a:pt x="2421684" y="0"/>
                </a:lnTo>
                <a:lnTo>
                  <a:pt x="2421684" y="950511"/>
                </a:lnTo>
                <a:lnTo>
                  <a:pt x="0" y="9505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-2327884">
            <a:off x="11599882" y="3911565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0" y="0"/>
                </a:moveTo>
                <a:lnTo>
                  <a:pt x="1983400" y="0"/>
                </a:lnTo>
                <a:lnTo>
                  <a:pt x="1983400" y="560311"/>
                </a:lnTo>
                <a:lnTo>
                  <a:pt x="0" y="56031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3166965" y="6171589"/>
            <a:ext cx="4996840" cy="391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Изграждане на структурирано уеб приложение, което комбинира бизнес логика и база данни.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37972" y="632249"/>
            <a:ext cx="4625833" cy="3289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Осигуряване на различни функционалности за всеки тип потребител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1210" y="7003640"/>
            <a:ext cx="5449103" cy="266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Демонстрация за управлението на обяви за работа и кандидатури</a:t>
            </a:r>
          </a:p>
        </p:txBody>
      </p:sp>
      <p:sp>
        <p:nvSpPr>
          <p:cNvPr name="Freeform 31" id="31"/>
          <p:cNvSpPr/>
          <p:nvPr/>
        </p:nvSpPr>
        <p:spPr>
          <a:xfrm flipH="true" flipV="true" rot="-9316569">
            <a:off x="11092234" y="6706933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1983399" y="560311"/>
                </a:moveTo>
                <a:lnTo>
                  <a:pt x="0" y="560311"/>
                </a:lnTo>
                <a:lnTo>
                  <a:pt x="0" y="0"/>
                </a:lnTo>
                <a:lnTo>
                  <a:pt x="1983399" y="0"/>
                </a:lnTo>
                <a:lnTo>
                  <a:pt x="1983399" y="560311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true" rot="-8747153">
            <a:off x="4390261" y="4000466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0" y="560310"/>
                </a:moveTo>
                <a:lnTo>
                  <a:pt x="1983400" y="560310"/>
                </a:lnTo>
                <a:lnTo>
                  <a:pt x="1983400" y="0"/>
                </a:lnTo>
                <a:lnTo>
                  <a:pt x="0" y="0"/>
                </a:lnTo>
                <a:lnTo>
                  <a:pt x="0" y="56031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true" flipV="true" rot="-2095773">
            <a:off x="4598613" y="6121361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1983400" y="560311"/>
                </a:moveTo>
                <a:lnTo>
                  <a:pt x="0" y="560311"/>
                </a:lnTo>
                <a:lnTo>
                  <a:pt x="0" y="0"/>
                </a:lnTo>
                <a:lnTo>
                  <a:pt x="1983400" y="0"/>
                </a:lnTo>
                <a:lnTo>
                  <a:pt x="1983400" y="560311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7031086" y="-1215642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8"/>
                </a:moveTo>
                <a:lnTo>
                  <a:pt x="5521384" y="4678118"/>
                </a:lnTo>
                <a:lnTo>
                  <a:pt x="5521384" y="0"/>
                </a:lnTo>
                <a:lnTo>
                  <a:pt x="0" y="0"/>
                </a:lnTo>
                <a:lnTo>
                  <a:pt x="0" y="4678118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318986" y="8385716"/>
            <a:ext cx="2269131" cy="1745168"/>
          </a:xfrm>
          <a:custGeom>
            <a:avLst/>
            <a:gdLst/>
            <a:ahLst/>
            <a:cxnLst/>
            <a:rect r="r" b="b" t="t" l="l"/>
            <a:pathLst>
              <a:path h="1745168" w="2269131">
                <a:moveTo>
                  <a:pt x="0" y="0"/>
                </a:moveTo>
                <a:lnTo>
                  <a:pt x="2269130" y="0"/>
                </a:lnTo>
                <a:lnTo>
                  <a:pt x="2269130" y="1745168"/>
                </a:lnTo>
                <a:lnTo>
                  <a:pt x="0" y="174516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7766572" y="3357931"/>
            <a:ext cx="2864116" cy="8617014"/>
            <a:chOff x="0" y="0"/>
            <a:chExt cx="3818821" cy="11489352"/>
          </a:xfrm>
        </p:grpSpPr>
        <p:sp>
          <p:nvSpPr>
            <p:cNvPr name="AutoShape 8" id="8"/>
            <p:cNvSpPr/>
            <p:nvPr/>
          </p:nvSpPr>
          <p:spPr>
            <a:xfrm>
              <a:off x="0" y="2729933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" id="9"/>
            <p:cNvSpPr/>
            <p:nvPr/>
          </p:nvSpPr>
          <p:spPr>
            <a:xfrm>
              <a:off x="0" y="5468165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0" id="10"/>
            <p:cNvGrpSpPr/>
            <p:nvPr/>
          </p:nvGrpSpPr>
          <p:grpSpPr>
            <a:xfrm rot="0">
              <a:off x="3527698" y="2584371"/>
              <a:ext cx="291123" cy="291123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3527698" y="5322603"/>
              <a:ext cx="291123" cy="291123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AutoShape 16" id="16"/>
            <p:cNvSpPr/>
            <p:nvPr/>
          </p:nvSpPr>
          <p:spPr>
            <a:xfrm>
              <a:off x="1836630" y="145561"/>
              <a:ext cx="0" cy="11343790"/>
            </a:xfrm>
            <a:prstGeom prst="line">
              <a:avLst/>
            </a:prstGeom>
            <a:ln cap="flat" w="38100">
              <a:solidFill>
                <a:srgbClr val="F1F9F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126511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0">
              <a:off x="3527698" y="0"/>
              <a:ext cx="291123" cy="291123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0" y="2584371"/>
              <a:ext cx="291123" cy="291123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0" y="5322603"/>
              <a:ext cx="291123" cy="291123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0" y="0"/>
              <a:ext cx="291123" cy="291123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30" id="30"/>
          <p:cNvSpPr txBox="true"/>
          <p:nvPr/>
        </p:nvSpPr>
        <p:spPr>
          <a:xfrm rot="0">
            <a:off x="54630" y="246828"/>
            <a:ext cx="18288000" cy="1676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149"/>
              </a:lnSpc>
              <a:spcBef>
                <a:spcPct val="0"/>
              </a:spcBef>
            </a:pPr>
            <a:r>
              <a:rPr lang="en-US" sz="8999" spc="539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Предизвикателства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17717" y="2943225"/>
            <a:ext cx="677061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Управлен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 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ел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цион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б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аза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ни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17717" y="4981575"/>
            <a:ext cx="677061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Функц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л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ос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з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кан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датств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обяви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4630" y="7005302"/>
            <a:ext cx="7133699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Тестване на бизнес логиката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953329" y="3057118"/>
            <a:ext cx="7334671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Търсене и филтрир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ане на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п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зиции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010085" y="7005302"/>
            <a:ext cx="7277915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Управление на базата данни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1010085" y="5019675"/>
            <a:ext cx="6021001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вле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 на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умен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я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(S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k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ills)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2928" y="5377248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Добавя умения и управлява потребители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47261" y="5258285"/>
            <a:ext cx="459545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Най-високи права в системата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39836" y="5280737"/>
            <a:ext cx="417873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управление на регистрирани потребители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0" y="4665173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1"/>
                </a:lnTo>
                <a:lnTo>
                  <a:pt x="0" y="29701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085205" y="474391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Admin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администратор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5303702" y="-6290671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2"/>
                </a:lnTo>
                <a:lnTo>
                  <a:pt x="9144000" y="9506432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739247" y="8977893"/>
            <a:ext cx="1913537" cy="1913537"/>
          </a:xfrm>
          <a:custGeom>
            <a:avLst/>
            <a:gdLst/>
            <a:ahLst/>
            <a:cxnLst/>
            <a:rect r="r" b="b" t="t" l="l"/>
            <a:pathLst>
              <a:path h="1913537" w="1913537">
                <a:moveTo>
                  <a:pt x="0" y="0"/>
                </a:moveTo>
                <a:lnTo>
                  <a:pt x="1913537" y="0"/>
                </a:lnTo>
                <a:lnTo>
                  <a:pt x="1913537" y="1913536"/>
                </a:lnTo>
                <a:lnTo>
                  <a:pt x="0" y="1913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4583763" y="7032120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13242661" y="4554190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015976" y="-727830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324469" y="2858209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Employer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Работодател</a:t>
            </a:r>
          </a:p>
        </p:txBody>
      </p:sp>
      <p:sp>
        <p:nvSpPr>
          <p:cNvPr name="Freeform 15" id="15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91069" y="4747695"/>
            <a:ext cx="4746906" cy="253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 strike="noStrike" u="none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Публикуват, редактират и изтриват обяви за работа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645474" y="4701472"/>
            <a:ext cx="4595458" cy="253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 strike="noStrike" u="none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Управляват информация за работните позиции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188800" y="4825053"/>
            <a:ext cx="5931586" cy="1899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търсене и филтриране, за намиране на подходящи кандидати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5634321" y="8091425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280214" y="42770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6" y="0"/>
                </a:lnTo>
                <a:lnTo>
                  <a:pt x="6007786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111501" y="42389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6" y="0"/>
                </a:lnTo>
                <a:lnTo>
                  <a:pt x="6007786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-20111" y="42389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7" y="0"/>
                </a:lnTo>
                <a:lnTo>
                  <a:pt x="6007787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2928" y="5377248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Добавят и управляват своите умения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47261" y="5258285"/>
            <a:ext cx="459545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Кандидатстват по обяви за работа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333626" y="4879607"/>
            <a:ext cx="5791157" cy="280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 търсене и филтриране на обявите според предпочитанията си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31607" y="483916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040216" y="4760423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1"/>
                </a:lnTo>
                <a:lnTo>
                  <a:pt x="0" y="29701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Alien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потребител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6132307" y="-371086"/>
            <a:ext cx="1766837" cy="1883257"/>
          </a:xfrm>
          <a:custGeom>
            <a:avLst/>
            <a:gdLst/>
            <a:ahLst/>
            <a:cxnLst/>
            <a:rect r="r" b="b" t="t" l="l"/>
            <a:pathLst>
              <a:path h="1883257" w="1766837">
                <a:moveTo>
                  <a:pt x="1766838" y="0"/>
                </a:moveTo>
                <a:lnTo>
                  <a:pt x="0" y="0"/>
                </a:lnTo>
                <a:lnTo>
                  <a:pt x="0" y="1883257"/>
                </a:lnTo>
                <a:lnTo>
                  <a:pt x="1766838" y="1883257"/>
                </a:lnTo>
                <a:lnTo>
                  <a:pt x="176683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75483">
            <a:off x="15667600" y="8060946"/>
            <a:ext cx="4014396" cy="2649502"/>
          </a:xfrm>
          <a:custGeom>
            <a:avLst/>
            <a:gdLst/>
            <a:ahLst/>
            <a:cxnLst/>
            <a:rect r="r" b="b" t="t" l="l"/>
            <a:pathLst>
              <a:path h="2649502" w="4014396">
                <a:moveTo>
                  <a:pt x="0" y="0"/>
                </a:moveTo>
                <a:lnTo>
                  <a:pt x="4014396" y="0"/>
                </a:lnTo>
                <a:lnTo>
                  <a:pt x="4014396" y="2649501"/>
                </a:lnTo>
                <a:lnTo>
                  <a:pt x="0" y="26495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990629" y="4027890"/>
            <a:ext cx="12495969" cy="1272624"/>
            <a:chOff x="0" y="0"/>
            <a:chExt cx="2557742" cy="26048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990629" y="6002789"/>
            <a:ext cx="12495969" cy="1272624"/>
            <a:chOff x="0" y="0"/>
            <a:chExt cx="2557742" cy="260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990629" y="8056463"/>
            <a:ext cx="12495969" cy="1272624"/>
            <a:chOff x="0" y="0"/>
            <a:chExt cx="2557742" cy="2604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>
            <a:off x="-24216" y="4585427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-24216" y="6639101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-24216" y="8692775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2621558" y="4476256"/>
            <a:ext cx="218342" cy="218342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621558" y="6529930"/>
            <a:ext cx="218342" cy="218342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621558" y="8583604"/>
            <a:ext cx="218342" cy="218342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7" id="27"/>
          <p:cNvSpPr/>
          <p:nvPr/>
        </p:nvSpPr>
        <p:spPr>
          <a:xfrm>
            <a:off x="1353256" y="2647148"/>
            <a:ext cx="0" cy="8507843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-24216" y="2632861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9" id="29"/>
          <p:cNvGrpSpPr/>
          <p:nvPr/>
        </p:nvGrpSpPr>
        <p:grpSpPr>
          <a:xfrm rot="0">
            <a:off x="2621558" y="2537977"/>
            <a:ext cx="218342" cy="218342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2990629" y="2052992"/>
            <a:ext cx="12495969" cy="1272624"/>
            <a:chOff x="0" y="0"/>
            <a:chExt cx="2557742" cy="26048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3037000" y="161925"/>
            <a:ext cx="12214000" cy="155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Слоеве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305769" y="4344670"/>
            <a:ext cx="15272133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  <a:spcBef>
                <a:spcPct val="0"/>
              </a:spcBef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Слой за бизнес лог</a:t>
            </a:r>
            <a:r>
              <a:rPr lang="en-US" sz="3339" u="none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ик</a:t>
            </a: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а 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305769" y="6358957"/>
            <a:ext cx="14402079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  <a:spcBef>
                <a:spcPct val="0"/>
              </a:spcBef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Слой за достъп до да</a:t>
            </a:r>
            <a:r>
              <a:rPr lang="en-US" sz="3339" u="none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н</a:t>
            </a: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ни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305769" y="2369832"/>
            <a:ext cx="14984910" cy="572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82"/>
              </a:lnSpc>
              <a:spcBef>
                <a:spcPct val="0"/>
              </a:spcBef>
            </a:pPr>
            <a:r>
              <a:rPr lang="en-US" sz="3344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Презентационен слой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305769" y="8373243"/>
            <a:ext cx="7618468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unit тестове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692859" y="-1590948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9"/>
                </a:moveTo>
                <a:lnTo>
                  <a:pt x="5521384" y="4678119"/>
                </a:lnTo>
                <a:lnTo>
                  <a:pt x="5521384" y="0"/>
                </a:lnTo>
                <a:lnTo>
                  <a:pt x="0" y="0"/>
                </a:lnTo>
                <a:lnTo>
                  <a:pt x="0" y="467811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553448">
            <a:off x="15151108" y="7998945"/>
            <a:ext cx="2604885" cy="1758063"/>
          </a:xfrm>
          <a:custGeom>
            <a:avLst/>
            <a:gdLst/>
            <a:ahLst/>
            <a:cxnLst/>
            <a:rect r="r" b="b" t="t" l="l"/>
            <a:pathLst>
              <a:path h="1758063" w="2604885">
                <a:moveTo>
                  <a:pt x="0" y="0"/>
                </a:moveTo>
                <a:lnTo>
                  <a:pt x="2604886" y="0"/>
                </a:lnTo>
                <a:lnTo>
                  <a:pt x="2604886" y="1758063"/>
                </a:lnTo>
                <a:lnTo>
                  <a:pt x="0" y="175806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916820" y="2964147"/>
            <a:ext cx="10454359" cy="5551094"/>
            <a:chOff x="0" y="0"/>
            <a:chExt cx="13939145" cy="7401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343778" cy="7343778"/>
            </a:xfrm>
            <a:custGeom>
              <a:avLst/>
              <a:gdLst/>
              <a:ahLst/>
              <a:cxnLst/>
              <a:rect r="r" b="b" t="t" l="l"/>
              <a:pathLst>
                <a:path h="7343778" w="7343778">
                  <a:moveTo>
                    <a:pt x="0" y="0"/>
                  </a:moveTo>
                  <a:lnTo>
                    <a:pt x="7343778" y="0"/>
                  </a:lnTo>
                  <a:lnTo>
                    <a:pt x="7343778" y="7343778"/>
                  </a:lnTo>
                  <a:lnTo>
                    <a:pt x="0" y="7343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8691627" y="0"/>
              <a:ext cx="5247519" cy="7401459"/>
            </a:xfrm>
            <a:custGeom>
              <a:avLst/>
              <a:gdLst/>
              <a:ahLst/>
              <a:cxnLst/>
              <a:rect r="r" b="b" t="t" l="l"/>
              <a:pathLst>
                <a:path h="7401459" w="5247519">
                  <a:moveTo>
                    <a:pt x="0" y="0"/>
                  </a:moveTo>
                  <a:lnTo>
                    <a:pt x="5247518" y="0"/>
                  </a:lnTo>
                  <a:lnTo>
                    <a:pt x="5247518" y="7401459"/>
                  </a:lnTo>
                  <a:lnTo>
                    <a:pt x="0" y="7401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613451" y="914400"/>
            <a:ext cx="7061098" cy="1062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6"/>
              </a:lnSpc>
            </a:pPr>
            <a:r>
              <a:rPr lang="en-US" sz="6261">
                <a:solidFill>
                  <a:srgbClr val="FFFFFF"/>
                </a:solidFill>
                <a:latin typeface="Adigiana Toybox Bold"/>
                <a:ea typeface="Adigiana Toybox Bold"/>
                <a:cs typeface="Adigiana Toybox Bold"/>
                <a:sym typeface="Adigiana Toybox Bold"/>
              </a:rPr>
              <a:t>FRONT-END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692859" y="-1590948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9"/>
                </a:moveTo>
                <a:lnTo>
                  <a:pt x="5521384" y="4678119"/>
                </a:lnTo>
                <a:lnTo>
                  <a:pt x="5521384" y="0"/>
                </a:lnTo>
                <a:lnTo>
                  <a:pt x="0" y="0"/>
                </a:lnTo>
                <a:lnTo>
                  <a:pt x="0" y="467811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2599718" y="3362927"/>
            <a:ext cx="13088565" cy="3629896"/>
            <a:chOff x="0" y="0"/>
            <a:chExt cx="17451420" cy="483986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3225" y="0"/>
              <a:ext cx="4748195" cy="4748195"/>
            </a:xfrm>
            <a:custGeom>
              <a:avLst/>
              <a:gdLst/>
              <a:ahLst/>
              <a:cxnLst/>
              <a:rect r="r" b="b" t="t" l="l"/>
              <a:pathLst>
                <a:path h="4748195" w="4748195">
                  <a:moveTo>
                    <a:pt x="0" y="0"/>
                  </a:moveTo>
                  <a:lnTo>
                    <a:pt x="4748195" y="0"/>
                  </a:lnTo>
                  <a:lnTo>
                    <a:pt x="4748195" y="4748195"/>
                  </a:lnTo>
                  <a:lnTo>
                    <a:pt x="0" y="474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3757236" y="0"/>
              <a:ext cx="9679723" cy="4839862"/>
            </a:xfrm>
            <a:custGeom>
              <a:avLst/>
              <a:gdLst/>
              <a:ahLst/>
              <a:cxnLst/>
              <a:rect r="r" b="b" t="t" l="l"/>
              <a:pathLst>
                <a:path h="4839862" w="9679723">
                  <a:moveTo>
                    <a:pt x="0" y="0"/>
                  </a:moveTo>
                  <a:lnTo>
                    <a:pt x="9679723" y="0"/>
                  </a:lnTo>
                  <a:lnTo>
                    <a:pt x="9679723" y="4839862"/>
                  </a:lnTo>
                  <a:lnTo>
                    <a:pt x="0" y="48398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48195" cy="4748195"/>
            </a:xfrm>
            <a:custGeom>
              <a:avLst/>
              <a:gdLst/>
              <a:ahLst/>
              <a:cxnLst/>
              <a:rect r="r" b="b" t="t" l="l"/>
              <a:pathLst>
                <a:path h="4748195" w="4748195">
                  <a:moveTo>
                    <a:pt x="0" y="0"/>
                  </a:moveTo>
                  <a:lnTo>
                    <a:pt x="4748195" y="0"/>
                  </a:lnTo>
                  <a:lnTo>
                    <a:pt x="4748195" y="4748195"/>
                  </a:lnTo>
                  <a:lnTo>
                    <a:pt x="0" y="474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613451" y="914400"/>
            <a:ext cx="7061098" cy="106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6"/>
              </a:lnSpc>
            </a:pPr>
            <a:r>
              <a:rPr lang="en-US" sz="6261">
                <a:solidFill>
                  <a:srgbClr val="FFFFFF"/>
                </a:solidFill>
                <a:latin typeface="Adigiana Toybox Bold"/>
                <a:ea typeface="Adigiana Toybox Bold"/>
                <a:cs typeface="Adigiana Toybox Bold"/>
                <a:sym typeface="Adigiana Toybox Bold"/>
              </a:rPr>
              <a:t>BACK-END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180522" y="0"/>
            <a:ext cx="11926957" cy="10287000"/>
          </a:xfrm>
          <a:custGeom>
            <a:avLst/>
            <a:gdLst/>
            <a:ahLst/>
            <a:cxnLst/>
            <a:rect r="r" b="b" t="t" l="l"/>
            <a:pathLst>
              <a:path h="10287000" w="11926957">
                <a:moveTo>
                  <a:pt x="0" y="0"/>
                </a:moveTo>
                <a:lnTo>
                  <a:pt x="11926956" y="0"/>
                </a:lnTo>
                <a:lnTo>
                  <a:pt x="1192695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31321" y="5472699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лесно да запазва интересни задачи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6085205" y="474391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692250" y="5633162"/>
            <a:ext cx="4595458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да се връща към тях по-късно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3139836" y="5280737"/>
            <a:ext cx="417873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да организира по-добре избора си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0" y="4681679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Favorites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789000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запазване на задачи</a:t>
            </a:r>
          </a:p>
        </p:txBody>
      </p:sp>
    </p:spTree>
  </p:cSld>
  <p:clrMapOvr>
    <a:masterClrMapping/>
  </p:clrMapOvr>
  <p:transition spd="fast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2294731" y="465150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2789136" y="5057775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по-добра представа за конкуренцията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251129" y="465150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421763" y="5057775"/>
            <a:ext cx="5401564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повече информация преди кандидатстване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1607" y="380127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Брой кандидати</a:t>
            </a:r>
          </a:p>
        </p:txBody>
      </p:sp>
    </p:spTree>
  </p:cSld>
  <p:clrMapOvr>
    <a:masterClrMapping/>
  </p:clrMapOvr>
  <p:transition spd="fast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31321" y="5472699"/>
            <a:ext cx="4746906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По-лесен избор на професия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6085205" y="474391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692250" y="5633162"/>
            <a:ext cx="4595458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По-успешно кандидатстване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3065224" y="5633162"/>
            <a:ext cx="4178738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По-добра реализация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0" y="465150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Препоръчани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789000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Работни места в зависимост от уменията</a:t>
            </a:r>
          </a:p>
        </p:txBody>
      </p:sp>
    </p:spTree>
  </p:cSld>
  <p:clrMapOvr>
    <a:masterClrMapping/>
  </p:clrMapOvr>
  <p:transition spd="fast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2294731" y="4872179"/>
            <a:ext cx="6175978" cy="3157469"/>
          </a:xfrm>
          <a:custGeom>
            <a:avLst/>
            <a:gdLst/>
            <a:ahLst/>
            <a:cxnLst/>
            <a:rect r="r" b="b" t="t" l="l"/>
            <a:pathLst>
              <a:path h="3157469" w="6175978">
                <a:moveTo>
                  <a:pt x="0" y="0"/>
                </a:moveTo>
                <a:lnTo>
                  <a:pt x="6175978" y="0"/>
                </a:lnTo>
                <a:lnTo>
                  <a:pt x="6175978" y="3157469"/>
                </a:lnTo>
                <a:lnTo>
                  <a:pt x="0" y="315746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2789136" y="5057775"/>
            <a:ext cx="4746906" cy="280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По-бързо намиране на подходящи обяви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21763" y="5762625"/>
            <a:ext cx="5401564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По-реалистични кандидатури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0" y="-105006"/>
            <a:ext cx="18288000" cy="2726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20"/>
              </a:lnSpc>
            </a:pPr>
            <a:r>
              <a:rPr lang="en-US" sz="78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Филтър:</a:t>
            </a:r>
          </a:p>
          <a:p>
            <a:pPr algn="ctr">
              <a:lnSpc>
                <a:spcPts val="10920"/>
              </a:lnSpc>
            </a:pPr>
            <a:r>
              <a:rPr lang="en-US" sz="78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максимална заплата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0034556" y="4872179"/>
            <a:ext cx="6175978" cy="3157469"/>
          </a:xfrm>
          <a:custGeom>
            <a:avLst/>
            <a:gdLst/>
            <a:ahLst/>
            <a:cxnLst/>
            <a:rect r="r" b="b" t="t" l="l"/>
            <a:pathLst>
              <a:path h="3157469" w="6175978">
                <a:moveTo>
                  <a:pt x="0" y="0"/>
                </a:moveTo>
                <a:lnTo>
                  <a:pt x="6175979" y="0"/>
                </a:lnTo>
                <a:lnTo>
                  <a:pt x="6175979" y="3157469"/>
                </a:lnTo>
                <a:lnTo>
                  <a:pt x="0" y="315746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122133" y="-565115"/>
            <a:ext cx="2274334" cy="2424193"/>
          </a:xfrm>
          <a:custGeom>
            <a:avLst/>
            <a:gdLst/>
            <a:ahLst/>
            <a:cxnLst/>
            <a:rect r="r" b="b" t="t" l="l"/>
            <a:pathLst>
              <a:path h="2424193" w="2274334">
                <a:moveTo>
                  <a:pt x="0" y="0"/>
                </a:moveTo>
                <a:lnTo>
                  <a:pt x="2274334" y="0"/>
                </a:lnTo>
                <a:lnTo>
                  <a:pt x="2274334" y="2424193"/>
                </a:lnTo>
                <a:lnTo>
                  <a:pt x="0" y="2424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673670" y="3463285"/>
            <a:ext cx="10189709" cy="10189709"/>
          </a:xfrm>
          <a:custGeom>
            <a:avLst/>
            <a:gdLst/>
            <a:ahLst/>
            <a:cxnLst/>
            <a:rect r="r" b="b" t="t" l="l"/>
            <a:pathLst>
              <a:path h="10189709" w="10189709">
                <a:moveTo>
                  <a:pt x="0" y="0"/>
                </a:moveTo>
                <a:lnTo>
                  <a:pt x="10189708" y="0"/>
                </a:lnTo>
                <a:lnTo>
                  <a:pt x="10189708" y="10189709"/>
                </a:lnTo>
                <a:lnTo>
                  <a:pt x="0" y="101897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6505" y="3234685"/>
            <a:ext cx="12214000" cy="197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99"/>
              </a:lnSpc>
            </a:pPr>
            <a:r>
              <a:rPr lang="en-US" sz="114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ДЕМОНСТРАЦИЯ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42433" y="5578965"/>
            <a:ext cx="11445567" cy="3618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Test accoounts:</a:t>
            </a:r>
          </a:p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Admin: admin@hire.com - Admin123!</a:t>
            </a:r>
          </a:p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Employer: employer@hire.com - Employer123!</a:t>
            </a:r>
          </a:p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User(Alien): alien@hire.com - Alien123!</a:t>
            </a:r>
          </a:p>
        </p:txBody>
      </p:sp>
    </p:spTree>
  </p:cSld>
  <p:clrMapOvr>
    <a:masterClrMapping/>
  </p:clrMapOvr>
  <p:transition spd="fast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88518" y="1686540"/>
            <a:ext cx="16510964" cy="16510964"/>
          </a:xfrm>
          <a:custGeom>
            <a:avLst/>
            <a:gdLst/>
            <a:ahLst/>
            <a:cxnLst/>
            <a:rect r="r" b="b" t="t" l="l"/>
            <a:pathLst>
              <a:path h="16510964" w="16510964">
                <a:moveTo>
                  <a:pt x="0" y="0"/>
                </a:moveTo>
                <a:lnTo>
                  <a:pt x="16510964" y="0"/>
                </a:lnTo>
                <a:lnTo>
                  <a:pt x="16510964" y="16510965"/>
                </a:lnTo>
                <a:lnTo>
                  <a:pt x="0" y="16510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73273" y="1258457"/>
            <a:ext cx="16941454" cy="3138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37"/>
              </a:lnSpc>
            </a:pPr>
            <a:r>
              <a:rPr lang="en-US" sz="8598">
                <a:solidFill>
                  <a:srgbClr val="FFFFFF"/>
                </a:solidFill>
                <a:latin typeface="Adlery Pro"/>
                <a:ea typeface="Adlery Pro"/>
                <a:cs typeface="Adlery Pro"/>
                <a:sym typeface="Adlery Pro"/>
              </a:rPr>
              <a:t>БЛАГОДАРИМ ЗА ВНИМАНИЕТО!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DAHB-oEyK8A</dc:identifier>
  <dcterms:modified xsi:type="dcterms:W3CDTF">2011-08-01T06:04:30Z</dcterms:modified>
  <cp:revision>1</cp:revision>
  <dc:title>StarHire</dc:title>
</cp:coreProperties>
</file>